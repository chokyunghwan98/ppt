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:organization-relation-part-of-1;relation:part-of-1"/>
          <p:cNvSpPr/>
          <p:nvPr/>
        </p:nvSpPr>
        <p:spPr>
          <a:xfrm>
            <a:off x="7721193" y="2078025"/>
            <a:ext cx="0" cy="633222"/>
          </a:xfrm>
          <a:prstGeom prst="line">
            <a:avLst/>
          </a:prstGeom>
          <a:noFill/>
          <a:ln w="29528">
            <a:solidFill>
              <a:srgbClr val="777A76">
                <a:alpha val="82000"/>
              </a:srgbClr>
            </a:solidFill>
            <a:prstDash val="solid"/>
          </a:ln>
        </p:spPr>
      </p:sp>
      <p:sp>
        <p:nvSpPr>
          <p:cNvPr id="3" name="node:organization-relation-part-of-1;relation:part-of-1"/>
          <p:cNvSpPr/>
          <p:nvPr/>
        </p:nvSpPr>
        <p:spPr>
          <a:xfrm>
            <a:off x="7721193" y="2711247"/>
            <a:ext cx="-1877413" cy="0"/>
          </a:xfrm>
          <a:prstGeom prst="line">
            <a:avLst/>
          </a:prstGeom>
          <a:noFill/>
          <a:ln w="29528">
            <a:solidFill>
              <a:srgbClr val="777A76">
                <a:alpha val="82000"/>
              </a:srgbClr>
            </a:solidFill>
            <a:prstDash val="solid"/>
          </a:ln>
        </p:spPr>
      </p:sp>
      <p:sp>
        <p:nvSpPr>
          <p:cNvPr id="4" name="node:organization-relation-part-of-1;relation:part-of-1"/>
          <p:cNvSpPr/>
          <p:nvPr/>
        </p:nvSpPr>
        <p:spPr>
          <a:xfrm>
            <a:off x="5843780" y="2711247"/>
            <a:ext cx="0" cy="773938"/>
          </a:xfrm>
          <a:prstGeom prst="line">
            <a:avLst/>
          </a:prstGeom>
          <a:noFill/>
          <a:ln w="29528">
            <a:solidFill>
              <a:srgbClr val="777A76">
                <a:alpha val="82000"/>
              </a:srgbClr>
            </a:solidFill>
            <a:prstDash val="solid"/>
          </a:ln>
        </p:spPr>
      </p:sp>
      <p:sp>
        <p:nvSpPr>
          <p:cNvPr id="5" name="node:organization-relation-part-of-2;relation:part-of-2"/>
          <p:cNvSpPr/>
          <p:nvPr/>
        </p:nvSpPr>
        <p:spPr>
          <a:xfrm>
            <a:off x="5843780" y="3815385"/>
            <a:ext cx="0" cy="633222"/>
          </a:xfrm>
          <a:prstGeom prst="line">
            <a:avLst/>
          </a:prstGeom>
          <a:noFill/>
          <a:ln w="29528">
            <a:solidFill>
              <a:srgbClr val="777A76">
                <a:alpha val="82000"/>
              </a:srgbClr>
            </a:solidFill>
            <a:prstDash val="solid"/>
          </a:ln>
        </p:spPr>
      </p:sp>
      <p:sp>
        <p:nvSpPr>
          <p:cNvPr id="6" name="node:organization-relation-part-of-2;relation:part-of-2"/>
          <p:cNvSpPr/>
          <p:nvPr/>
        </p:nvSpPr>
        <p:spPr>
          <a:xfrm>
            <a:off x="5843780" y="4448607"/>
            <a:ext cx="-938707" cy="0"/>
          </a:xfrm>
          <a:prstGeom prst="line">
            <a:avLst/>
          </a:prstGeom>
          <a:noFill/>
          <a:ln w="29528">
            <a:solidFill>
              <a:srgbClr val="777A76">
                <a:alpha val="82000"/>
              </a:srgbClr>
            </a:solidFill>
            <a:prstDash val="solid"/>
          </a:ln>
        </p:spPr>
      </p:sp>
      <p:sp>
        <p:nvSpPr>
          <p:cNvPr id="7" name="node:organization-relation-part-of-2;relation:part-of-2"/>
          <p:cNvSpPr/>
          <p:nvPr/>
        </p:nvSpPr>
        <p:spPr>
          <a:xfrm>
            <a:off x="4905074" y="4448607"/>
            <a:ext cx="0" cy="773938"/>
          </a:xfrm>
          <a:prstGeom prst="line">
            <a:avLst/>
          </a:prstGeom>
          <a:noFill/>
          <a:ln w="29528">
            <a:solidFill>
              <a:srgbClr val="777A76">
                <a:alpha val="82000"/>
              </a:srgbClr>
            </a:solidFill>
            <a:prstDash val="solid"/>
          </a:ln>
        </p:spPr>
      </p:sp>
      <p:sp>
        <p:nvSpPr>
          <p:cNvPr id="8" name="node:organization-relation-part-of-3;relation:part-of-3"/>
          <p:cNvSpPr/>
          <p:nvPr/>
        </p:nvSpPr>
        <p:spPr>
          <a:xfrm>
            <a:off x="5843780" y="3815385"/>
            <a:ext cx="0" cy="633222"/>
          </a:xfrm>
          <a:prstGeom prst="line">
            <a:avLst/>
          </a:prstGeom>
          <a:noFill/>
          <a:ln w="29528">
            <a:solidFill>
              <a:srgbClr val="777A76">
                <a:alpha val="82000"/>
              </a:srgbClr>
            </a:solidFill>
            <a:prstDash val="solid"/>
          </a:ln>
        </p:spPr>
      </p:sp>
      <p:sp>
        <p:nvSpPr>
          <p:cNvPr id="9" name="node:organization-relation-part-of-3;relation:part-of-3"/>
          <p:cNvSpPr/>
          <p:nvPr/>
        </p:nvSpPr>
        <p:spPr>
          <a:xfrm>
            <a:off x="5843780" y="4448607"/>
            <a:ext cx="938707" cy="0"/>
          </a:xfrm>
          <a:prstGeom prst="line">
            <a:avLst/>
          </a:prstGeom>
          <a:noFill/>
          <a:ln w="29528">
            <a:solidFill>
              <a:srgbClr val="777A76">
                <a:alpha val="82000"/>
              </a:srgbClr>
            </a:solidFill>
            <a:prstDash val="solid"/>
          </a:ln>
        </p:spPr>
      </p:sp>
      <p:sp>
        <p:nvSpPr>
          <p:cNvPr id="10" name="node:organization-relation-part-of-3;relation:part-of-3"/>
          <p:cNvSpPr/>
          <p:nvPr/>
        </p:nvSpPr>
        <p:spPr>
          <a:xfrm>
            <a:off x="6782487" y="4448607"/>
            <a:ext cx="0" cy="773938"/>
          </a:xfrm>
          <a:prstGeom prst="line">
            <a:avLst/>
          </a:prstGeom>
          <a:noFill/>
          <a:ln w="29528">
            <a:solidFill>
              <a:srgbClr val="777A76">
                <a:alpha val="82000"/>
              </a:srgbClr>
            </a:solidFill>
            <a:prstDash val="solid"/>
          </a:ln>
        </p:spPr>
      </p:sp>
      <p:sp>
        <p:nvSpPr>
          <p:cNvPr id="11" name="node:organization-relation-part-of-4;relation:part-of-4"/>
          <p:cNvSpPr/>
          <p:nvPr/>
        </p:nvSpPr>
        <p:spPr>
          <a:xfrm>
            <a:off x="7721193" y="2078025"/>
            <a:ext cx="0" cy="633222"/>
          </a:xfrm>
          <a:prstGeom prst="line">
            <a:avLst/>
          </a:prstGeom>
          <a:noFill/>
          <a:ln w="29528">
            <a:solidFill>
              <a:srgbClr val="777A76">
                <a:alpha val="82000"/>
              </a:srgbClr>
            </a:solidFill>
            <a:prstDash val="solid"/>
          </a:ln>
        </p:spPr>
      </p:sp>
      <p:sp>
        <p:nvSpPr>
          <p:cNvPr id="12" name="node:organization-relation-part-of-4;relation:part-of-4"/>
          <p:cNvSpPr/>
          <p:nvPr/>
        </p:nvSpPr>
        <p:spPr>
          <a:xfrm>
            <a:off x="7721193" y="2711247"/>
            <a:ext cx="1877413" cy="0"/>
          </a:xfrm>
          <a:prstGeom prst="line">
            <a:avLst/>
          </a:prstGeom>
          <a:noFill/>
          <a:ln w="29528">
            <a:solidFill>
              <a:srgbClr val="777A76">
                <a:alpha val="82000"/>
              </a:srgbClr>
            </a:solidFill>
            <a:prstDash val="solid"/>
          </a:ln>
        </p:spPr>
      </p:sp>
      <p:sp>
        <p:nvSpPr>
          <p:cNvPr id="13" name="node:organization-relation-part-of-4;relation:part-of-4"/>
          <p:cNvSpPr/>
          <p:nvPr/>
        </p:nvSpPr>
        <p:spPr>
          <a:xfrm>
            <a:off x="9598607" y="2711247"/>
            <a:ext cx="0" cy="773938"/>
          </a:xfrm>
          <a:prstGeom prst="line">
            <a:avLst/>
          </a:prstGeom>
          <a:noFill/>
          <a:ln w="29528">
            <a:solidFill>
              <a:srgbClr val="777A76">
                <a:alpha val="82000"/>
              </a:srgbClr>
            </a:solidFill>
            <a:prstDash val="solid"/>
          </a:ln>
        </p:spPr>
      </p:sp>
      <p:sp>
        <p:nvSpPr>
          <p:cNvPr id="14" name="node:organization-relation-part-of-5;relation:part-of-5"/>
          <p:cNvSpPr/>
          <p:nvPr/>
        </p:nvSpPr>
        <p:spPr>
          <a:xfrm>
            <a:off x="9598607" y="3815385"/>
            <a:ext cx="0" cy="633222"/>
          </a:xfrm>
          <a:prstGeom prst="line">
            <a:avLst/>
          </a:prstGeom>
          <a:noFill/>
          <a:ln w="29528">
            <a:solidFill>
              <a:srgbClr val="777A76">
                <a:alpha val="82000"/>
              </a:srgbClr>
            </a:solidFill>
            <a:prstDash val="solid"/>
          </a:ln>
        </p:spPr>
      </p:sp>
      <p:sp>
        <p:nvSpPr>
          <p:cNvPr id="15" name="node:organization-relation-part-of-5;relation:part-of-5"/>
          <p:cNvSpPr/>
          <p:nvPr/>
        </p:nvSpPr>
        <p:spPr>
          <a:xfrm>
            <a:off x="9598607" y="4448607"/>
            <a:ext cx="-938707" cy="0"/>
          </a:xfrm>
          <a:prstGeom prst="line">
            <a:avLst/>
          </a:prstGeom>
          <a:noFill/>
          <a:ln w="29528">
            <a:solidFill>
              <a:srgbClr val="777A76">
                <a:alpha val="82000"/>
              </a:srgbClr>
            </a:solidFill>
            <a:prstDash val="solid"/>
          </a:ln>
        </p:spPr>
      </p:sp>
      <p:sp>
        <p:nvSpPr>
          <p:cNvPr id="16" name="node:organization-relation-part-of-5;relation:part-of-5"/>
          <p:cNvSpPr/>
          <p:nvPr/>
        </p:nvSpPr>
        <p:spPr>
          <a:xfrm>
            <a:off x="8659900" y="4448607"/>
            <a:ext cx="0" cy="773938"/>
          </a:xfrm>
          <a:prstGeom prst="line">
            <a:avLst/>
          </a:prstGeom>
          <a:noFill/>
          <a:ln w="29528">
            <a:solidFill>
              <a:srgbClr val="777A76">
                <a:alpha val="82000"/>
              </a:srgbClr>
            </a:solidFill>
            <a:prstDash val="solid"/>
          </a:ln>
        </p:spPr>
      </p:sp>
      <p:sp>
        <p:nvSpPr>
          <p:cNvPr id="17" name="node:organization-relation-part-of-6;relation:part-of-6"/>
          <p:cNvSpPr/>
          <p:nvPr/>
        </p:nvSpPr>
        <p:spPr>
          <a:xfrm>
            <a:off x="9598607" y="3815385"/>
            <a:ext cx="0" cy="633222"/>
          </a:xfrm>
          <a:prstGeom prst="line">
            <a:avLst/>
          </a:prstGeom>
          <a:noFill/>
          <a:ln w="29528">
            <a:solidFill>
              <a:srgbClr val="777A76">
                <a:alpha val="82000"/>
              </a:srgbClr>
            </a:solidFill>
            <a:prstDash val="solid"/>
          </a:ln>
        </p:spPr>
      </p:sp>
      <p:sp>
        <p:nvSpPr>
          <p:cNvPr id="18" name="node:organization-relation-part-of-6;relation:part-of-6"/>
          <p:cNvSpPr/>
          <p:nvPr/>
        </p:nvSpPr>
        <p:spPr>
          <a:xfrm>
            <a:off x="9598607" y="4448607"/>
            <a:ext cx="938707" cy="0"/>
          </a:xfrm>
          <a:prstGeom prst="line">
            <a:avLst/>
          </a:prstGeom>
          <a:noFill/>
          <a:ln w="29528">
            <a:solidFill>
              <a:srgbClr val="777A76">
                <a:alpha val="82000"/>
              </a:srgbClr>
            </a:solidFill>
            <a:prstDash val="solid"/>
          </a:ln>
        </p:spPr>
      </p:sp>
      <p:sp>
        <p:nvSpPr>
          <p:cNvPr id="19" name="node:organization-relation-part-of-6;relation:part-of-6"/>
          <p:cNvSpPr/>
          <p:nvPr/>
        </p:nvSpPr>
        <p:spPr>
          <a:xfrm>
            <a:off x="10537313" y="4448607"/>
            <a:ext cx="0" cy="773938"/>
          </a:xfrm>
          <a:prstGeom prst="line">
            <a:avLst/>
          </a:prstGeom>
          <a:noFill/>
          <a:ln w="29528">
            <a:solidFill>
              <a:srgbClr val="777A76">
                <a:alpha val="82000"/>
              </a:srgbClr>
            </a:solidFill>
            <a:prstDash val="solid"/>
          </a:ln>
        </p:spPr>
      </p:sp>
      <p:sp>
        <p:nvSpPr>
          <p:cNvPr id="20" name="node:text-block-title-0;block:block-title"/>
          <p:cNvSpPr/>
          <p:nvPr/>
        </p:nvSpPr>
        <p:spPr>
          <a:xfrm>
            <a:off x="1170940" y="789229"/>
            <a:ext cx="18575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225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전투 시스템 역할 구조</a:t>
            </a:r>
            <a:endParaRPr lang="en-US" sz="2550" dirty="0"/>
          </a:p>
        </p:txBody>
      </p:sp>
      <p:sp>
        <p:nvSpPr>
          <p:cNvPr id="21" name="node:text-block-message-0;block:block-message"/>
          <p:cNvSpPr/>
          <p:nvPr/>
        </p:nvSpPr>
        <p:spPr>
          <a:xfrm>
            <a:off x="1170940" y="1934439"/>
            <a:ext cx="3679825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5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전투 규칙의 책임 범위를 기능 단위로 분리한다.</a:t>
            </a:r>
            <a:endParaRPr lang="en-US" sz="2400" dirty="0"/>
          </a:p>
        </p:txBody>
      </p:sp>
      <p:sp>
        <p:nvSpPr>
          <p:cNvPr id="22" name="node:text-block-root-0;block:block-root"/>
          <p:cNvSpPr/>
          <p:nvPr/>
        </p:nvSpPr>
        <p:spPr>
          <a:xfrm>
            <a:off x="6129343" y="1690675"/>
            <a:ext cx="318370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5B5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전투 시스템 책임자</a:t>
            </a:r>
            <a:endParaRPr lang="en-US" sz="5100" dirty="0"/>
          </a:p>
        </p:txBody>
      </p:sp>
      <p:sp>
        <p:nvSpPr>
          <p:cNvPr id="23" name="node:text-block-player-0;block:block-player"/>
          <p:cNvSpPr/>
          <p:nvPr/>
        </p:nvSpPr>
        <p:spPr>
          <a:xfrm>
            <a:off x="5071288" y="3497885"/>
            <a:ext cx="15449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225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플레이어 전투</a:t>
            </a:r>
            <a:endParaRPr lang="en-US" sz="3300" dirty="0"/>
          </a:p>
        </p:txBody>
      </p:sp>
      <p:sp>
        <p:nvSpPr>
          <p:cNvPr id="24" name="node:text-block-move-dodge-0;block:block-move-dodge"/>
          <p:cNvSpPr/>
          <p:nvPr/>
        </p:nvSpPr>
        <p:spPr>
          <a:xfrm>
            <a:off x="4437499" y="5254295"/>
            <a:ext cx="9351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75" dirty="0">
                <a:solidFill>
                  <a:srgbClr val="686C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이동/회피</a:t>
            </a:r>
            <a:endParaRPr lang="en-US" sz="2775" dirty="0"/>
          </a:p>
        </p:txBody>
      </p:sp>
      <p:sp>
        <p:nvSpPr>
          <p:cNvPr id="25" name="node:text-block-attack-defense-0;block:block-attack-defense"/>
          <p:cNvSpPr/>
          <p:nvPr/>
        </p:nvSpPr>
        <p:spPr>
          <a:xfrm>
            <a:off x="6314912" y="5254295"/>
            <a:ext cx="9351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75" dirty="0">
                <a:solidFill>
                  <a:srgbClr val="686C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공격/방어</a:t>
            </a:r>
            <a:endParaRPr lang="en-US" sz="2775" dirty="0"/>
          </a:p>
        </p:txBody>
      </p:sp>
      <p:sp>
        <p:nvSpPr>
          <p:cNvPr id="26" name="node:text-block-boss-0;block:block-boss"/>
          <p:cNvSpPr/>
          <p:nvPr/>
        </p:nvSpPr>
        <p:spPr>
          <a:xfrm>
            <a:off x="9064413" y="3497885"/>
            <a:ext cx="10683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225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보스 전투</a:t>
            </a:r>
            <a:endParaRPr lang="en-US" sz="3300" dirty="0"/>
          </a:p>
        </p:txBody>
      </p:sp>
      <p:sp>
        <p:nvSpPr>
          <p:cNvPr id="27" name="node:text-block-pattern-0;block:block-pattern"/>
          <p:cNvSpPr/>
          <p:nvPr/>
        </p:nvSpPr>
        <p:spPr>
          <a:xfrm>
            <a:off x="8202077" y="5257470"/>
            <a:ext cx="915646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75" dirty="0">
                <a:solidFill>
                  <a:srgbClr val="686C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패턴 선택</a:t>
            </a:r>
            <a:endParaRPr lang="en-US" sz="2775" dirty="0"/>
          </a:p>
        </p:txBody>
      </p:sp>
      <p:sp>
        <p:nvSpPr>
          <p:cNvPr id="28" name="node:text-block-phase-0;block:block-phase"/>
          <p:cNvSpPr/>
          <p:nvPr/>
        </p:nvSpPr>
        <p:spPr>
          <a:xfrm>
            <a:off x="9978755" y="5257470"/>
            <a:ext cx="1117116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75" dirty="0">
                <a:solidFill>
                  <a:srgbClr val="686C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페이즈 전환</a:t>
            </a:r>
            <a:endParaRPr lang="en-US" sz="27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GAME PPT DESIGNER NEXT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generic-combat-system-organization</dc:title>
  <dc:subject>RenderTree editable compatibility output</dc:subject>
  <dc:creator>GAME PPT DESIGNER NEXT</dc:creator>
  <cp:lastModifiedBy>GAME PPT DESIGNER NEXT</cp:lastModifiedBy>
  <cp:revision>1</cp:revision>
  <dcterms:created xsi:type="dcterms:W3CDTF">2026-09-05T11:31:33Z</dcterms:created>
  <dcterms:modified xsi:type="dcterms:W3CDTF">2026-09-05T11:31:33Z</dcterms:modified>
</cp:coreProperties>
</file>